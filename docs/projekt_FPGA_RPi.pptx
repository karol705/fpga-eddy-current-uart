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zentacja" id="{B50B3946-B281-9C16-8DCE-1053305DFD25}">
          <p14:sldIdLst>
            <p14:sldId id="256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8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89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Trzy rozważane opcje i dlaczego wybraliśmy FPGA. Podkreślić: XADC wbudowany (nie potrzeba zewnętrznego ADC), stała latencja, filtr i UART działają równolegle jako sprzęt.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Przejść po blokach od lewej. Filtr: sygnał musi trwać FILTER_CYCLES = 120 000 taktów (ok. 10 ms przy 12 MHz). Detektor zbocza: trigger_uart to jeden impuls. UART: 104 takty na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Wynik symulacji w Vivado: dane wejściowe z pliku tekstowego (480 próbek, 40 ms), bo nie było fizycznego czujnika. Krótki skok (5-7 ms) jest odfiltrowany, przekroczenie progu trwające ponad 10 ms (od ok. 12 ms) uruchamia jedną ramkę UART z bajtem 0x43 około 22 ms. Wartości zakładają zegar 12 MHz.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Opcje: dlaczego FPGA?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094164"/>
              </p:ext>
            </p:extLst>
          </p:nvPr>
        </p:nvGraphicFramePr>
        <p:xfrm>
          <a:off x="457200" y="1371600"/>
          <a:ext cx="11247120" cy="2651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Opcja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Plusy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Minusy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RPi + zewnętrzny ADC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Brak dodatkowego mikrokontrolera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Potrzebny ADC (SPI/I²C), jitter z Linuxa (brak real-time)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Mikrokontroler (Arduino)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Tani, prosty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Obsługa programowa, opóźnienia przy wielu zadaniach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FPGA (nasz wybór)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Wbudowany XADC, stała latencja, filtr i UART działają równolegle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Wyższy próg wejścia (Verilog, Vivado)</a:t>
                      </a:r>
                      <a:endParaRPr lang="en-US" sz="16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Zalety naszego rozwiązania</a:t>
            </a:r>
            <a:endParaRPr lang="en-US" sz="2000" dirty="0"/>
          </a:p>
        </p:txBody>
      </p:sp>
      <p:sp>
        <p:nvSpPr>
          <p:cNvPr id="5" name="Zaleta 1"/>
          <p:cNvSpPr txBox="1"/>
          <p:nvPr/>
        </p:nvSpPr>
        <p:spPr>
          <a:xfrm>
            <a:off x="457200" y="493776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Wszystko w jednym układzie: ADC, filtr, komparator, UART</a:t>
            </a:r>
            <a:endParaRPr lang="en-US" sz="1600" dirty="0"/>
          </a:p>
        </p:txBody>
      </p:sp>
      <p:sp>
        <p:nvSpPr>
          <p:cNvPr id="6" name="Zaleta 2"/>
          <p:cNvSpPr txBox="1"/>
          <p:nvPr/>
        </p:nvSpPr>
        <p:spPr>
          <a:xfrm>
            <a:off x="3322290" y="493776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Przewidywalny czas reakcji</a:t>
            </a:r>
            <a:endParaRPr lang="en-US" sz="1600" dirty="0"/>
          </a:p>
        </p:txBody>
      </p:sp>
      <p:sp>
        <p:nvSpPr>
          <p:cNvPr id="7" name="Zaleta 3"/>
          <p:cNvSpPr txBox="1"/>
          <p:nvPr/>
        </p:nvSpPr>
        <p:spPr>
          <a:xfrm>
            <a:off x="6187379" y="493776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RPi odciążone: dostaje tylko gotowy bajt</a:t>
            </a:r>
            <a:endParaRPr lang="en-US" sz="1600" dirty="0"/>
          </a:p>
        </p:txBody>
      </p:sp>
      <p:sp>
        <p:nvSpPr>
          <p:cNvPr id="8" name="Zaleta 4"/>
          <p:cNvSpPr txBox="1"/>
          <p:nvPr/>
        </p:nvSpPr>
        <p:spPr>
          <a:xfrm>
            <a:off x="9052469" y="493776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01600" tIns="177800" rIns="177800" bIns="1016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Prosty interfejs: UART, 3 przewody (TX, RX, GND)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Jak to działa?</a:t>
            </a:r>
            <a:endParaRPr lang="en-US" sz="3600" dirty="0"/>
          </a:p>
        </p:txBody>
      </p:sp>
      <p:sp>
        <p:nvSpPr>
          <p:cNvPr id="3" name="Czujnik"/>
          <p:cNvSpPr txBox="1"/>
          <p:nvPr/>
        </p:nvSpPr>
        <p:spPr>
          <a:xfrm>
            <a:off x="457200" y="1463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Czujnik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wiroprądowy, sygnał analogowy</a:t>
            </a:r>
            <a:endParaRPr lang="en-US" sz="1800" dirty="0"/>
          </a:p>
        </p:txBody>
      </p:sp>
      <p:sp>
        <p:nvSpPr>
          <p:cNvPr id="4" name="XADC"/>
          <p:cNvSpPr txBox="1"/>
          <p:nvPr/>
        </p:nvSpPr>
        <p:spPr>
          <a:xfrm>
            <a:off x="3429000" y="1463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XADC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kanał VAUX4, 12 bitów</a:t>
            </a:r>
            <a:endParaRPr lang="en-US" sz="1800" dirty="0"/>
          </a:p>
        </p:txBody>
      </p:sp>
      <p:sp>
        <p:nvSpPr>
          <p:cNvPr id="5" name="Komparator"/>
          <p:cNvSpPr txBox="1"/>
          <p:nvPr/>
        </p:nvSpPr>
        <p:spPr>
          <a:xfrm>
            <a:off x="6400800" y="1463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Komparator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 err="1">
                <a:solidFill>
                  <a:schemeClr val="bg1"/>
                </a:solidFill>
              </a:rPr>
              <a:t>wartość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pl-PL" sz="1400" dirty="0">
                <a:solidFill>
                  <a:schemeClr val="bg1"/>
                </a:solidFill>
              </a:rPr>
              <a:t>&lt; THRESHOLD</a:t>
            </a:r>
            <a:endParaRPr lang="en-US" sz="1800" dirty="0"/>
          </a:p>
        </p:txBody>
      </p:sp>
      <p:sp>
        <p:nvSpPr>
          <p:cNvPr id="6" name="Filtr czasowy"/>
          <p:cNvSpPr txBox="1"/>
          <p:nvPr/>
        </p:nvSpPr>
        <p:spPr>
          <a:xfrm>
            <a:off x="9372600" y="1463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Filtr czasowy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powyżej progu ok. 10 ms, odrzuca zakłócenia</a:t>
            </a:r>
            <a:endParaRPr lang="en-US" sz="1800" dirty="0"/>
          </a:p>
        </p:txBody>
      </p:sp>
      <p:sp>
        <p:nvSpPr>
          <p:cNvPr id="7" name="Detektor zbocza"/>
          <p:cNvSpPr txBox="1"/>
          <p:nvPr/>
        </p:nvSpPr>
        <p:spPr>
          <a:xfrm>
            <a:off x="457200" y="3749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Detektor zbocza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jeden impuls = jedna paczka</a:t>
            </a:r>
            <a:endParaRPr lang="en-US" sz="1800" dirty="0"/>
          </a:p>
        </p:txBody>
      </p:sp>
      <p:sp>
        <p:nvSpPr>
          <p:cNvPr id="8" name="Automat UART"/>
          <p:cNvSpPr txBox="1"/>
          <p:nvPr/>
        </p:nvSpPr>
        <p:spPr>
          <a:xfrm>
            <a:off x="3429000" y="3749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Automat UART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8N1, 115200 baud, wysyła bajt</a:t>
            </a:r>
            <a:endParaRPr lang="en-US" sz="1800" dirty="0"/>
          </a:p>
        </p:txBody>
      </p:sp>
      <p:sp>
        <p:nvSpPr>
          <p:cNvPr id="9" name="Raspberry Pi"/>
          <p:cNvSpPr txBox="1"/>
          <p:nvPr/>
        </p:nvSpPr>
        <p:spPr>
          <a:xfrm>
            <a:off x="6400800" y="3749040"/>
            <a:ext cx="233172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Raspberry Pi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 err="1">
                <a:solidFill>
                  <a:schemeClr val="bg1"/>
                </a:solidFill>
              </a:rPr>
              <a:t>odbiera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bajt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548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148840"/>
            <a:ext cx="548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2148840"/>
            <a:ext cx="548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4434840"/>
            <a:ext cx="548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06440" y="4434840"/>
            <a:ext cx="548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38460" y="283464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3060" y="3291840"/>
            <a:ext cx="8915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3060" y="3291840"/>
            <a:ext cx="0" cy="42976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402336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38360" y="3995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Wewnątrz FPGA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72600" y="4526280"/>
            <a:ext cx="256032" cy="256032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38360" y="44988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Poza FPGA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Cały tor działa w sprzęcie, więc czas reakcji jest stały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Wyniki symulacji</a:t>
            </a:r>
            <a:endParaRPr lang="en-US" sz="3600" dirty="0"/>
          </a:p>
        </p:txBody>
      </p:sp>
      <p:sp>
        <p:nvSpPr>
          <p:cNvPr id="3" name="Opis 1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Cały przebieg (40 ms): krótki skok odfiltrowany, po 10 ms przekroczenia progu startuje UART</a:t>
            </a:r>
            <a:endParaRPr lang="en-US" sz="1600" dirty="0"/>
          </a:p>
        </p:txBody>
      </p:sp>
      <p:sp>
        <p:nvSpPr>
          <p:cNvPr id="5" name="Podpis Wejście (czujnik)"/>
          <p:cNvSpPr txBox="1"/>
          <p:nvPr/>
        </p:nvSpPr>
        <p:spPr>
          <a:xfrm>
            <a:off x="45720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Wejście (czujnik)</a:t>
            </a:r>
            <a:endParaRPr lang="en-US" sz="1400" dirty="0"/>
          </a:p>
        </p:txBody>
      </p:sp>
      <p:sp>
        <p:nvSpPr>
          <p:cNvPr id="6" name="Podpis trigger_flag"/>
          <p:cNvSpPr txBox="1"/>
          <p:nvPr/>
        </p:nvSpPr>
        <p:spPr>
          <a:xfrm>
            <a:off x="457200" y="271393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trigger_flag</a:t>
            </a:r>
            <a:endParaRPr lang="en-US" sz="1400" dirty="0"/>
          </a:p>
        </p:txBody>
      </p:sp>
      <p:sp>
        <p:nvSpPr>
          <p:cNvPr id="7" name="Podpis is_above"/>
          <p:cNvSpPr txBox="1"/>
          <p:nvPr/>
        </p:nvSpPr>
        <p:spPr>
          <a:xfrm>
            <a:off x="457200" y="297545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is_above</a:t>
            </a:r>
            <a:endParaRPr lang="en-US" sz="1400" dirty="0"/>
          </a:p>
        </p:txBody>
      </p:sp>
      <p:sp>
        <p:nvSpPr>
          <p:cNvPr id="8" name="Podpis Wyjście UART (TX)"/>
          <p:cNvSpPr txBox="1"/>
          <p:nvPr/>
        </p:nvSpPr>
        <p:spPr>
          <a:xfrm>
            <a:off x="457200" y="322691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Wyjście UART (TX)</a:t>
            </a:r>
            <a:endParaRPr lang="en-US" sz="1400" dirty="0"/>
          </a:p>
        </p:txBody>
      </p:sp>
      <p:sp>
        <p:nvSpPr>
          <p:cNvPr id="9" name="Oś czasu 1"/>
          <p:cNvSpPr txBox="1"/>
          <p:nvPr/>
        </p:nvSpPr>
        <p:spPr>
          <a:xfrm>
            <a:off x="2377440" y="3502152"/>
            <a:ext cx="7744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czas symulacji [ms]</a:t>
            </a:r>
            <a:endParaRPr lang="en-US" sz="1200" dirty="0"/>
          </a:p>
        </p:txBody>
      </p:sp>
      <p:sp>
        <p:nvSpPr>
          <p:cNvPr id="10" name="Opis 2"/>
          <p:cNvSpPr txBox="1"/>
          <p:nvPr/>
        </p:nvSpPr>
        <p:spPr>
          <a:xfrm>
            <a:off x="457200" y="3749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Ramka UART z bliska: start, 1 1 0 0 0 0 1 0, stop</a:t>
            </a:r>
            <a:endParaRPr lang="en-US" sz="1600" dirty="0"/>
          </a:p>
        </p:txBody>
      </p:sp>
      <p:sp>
        <p:nvSpPr>
          <p:cNvPr id="12" name="Podpis Wejście (czujnik)"/>
          <p:cNvSpPr txBox="1"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Wejście (czujnik)</a:t>
            </a:r>
            <a:endParaRPr lang="en-US" sz="1400" dirty="0"/>
          </a:p>
        </p:txBody>
      </p:sp>
      <p:sp>
        <p:nvSpPr>
          <p:cNvPr id="13" name="Podpis trigger_flag"/>
          <p:cNvSpPr txBox="1"/>
          <p:nvPr/>
        </p:nvSpPr>
        <p:spPr>
          <a:xfrm>
            <a:off x="457200" y="536569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trigger_flag</a:t>
            </a:r>
            <a:endParaRPr lang="en-US" sz="1400" dirty="0"/>
          </a:p>
        </p:txBody>
      </p:sp>
      <p:sp>
        <p:nvSpPr>
          <p:cNvPr id="14" name="Podpis is_above"/>
          <p:cNvSpPr txBox="1"/>
          <p:nvPr/>
        </p:nvSpPr>
        <p:spPr>
          <a:xfrm>
            <a:off x="457200" y="562721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is_above</a:t>
            </a:r>
            <a:endParaRPr lang="en-US" sz="1400" dirty="0"/>
          </a:p>
        </p:txBody>
      </p:sp>
      <p:sp>
        <p:nvSpPr>
          <p:cNvPr id="15" name="Podpis Wyjście UART (TX)"/>
          <p:cNvSpPr txBox="1"/>
          <p:nvPr/>
        </p:nvSpPr>
        <p:spPr>
          <a:xfrm>
            <a:off x="457200" y="587867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Wyjście UART (TX)</a:t>
            </a:r>
            <a:endParaRPr lang="en-US" sz="1400" dirty="0"/>
          </a:p>
        </p:txBody>
      </p:sp>
      <p:sp>
        <p:nvSpPr>
          <p:cNvPr id="16" name="Oś czasu 2"/>
          <p:cNvSpPr txBox="1"/>
          <p:nvPr/>
        </p:nvSpPr>
        <p:spPr>
          <a:xfrm>
            <a:off x="2377440" y="6153912"/>
            <a:ext cx="7744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czas symulacji [µs], okolice 22 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593A4B54-B1EA-4D1A-9DC3-2A051CEC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456574"/>
            <a:ext cx="7682250" cy="1991694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66431046-756F-6D7A-1D05-2110DFC36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819" y="4136209"/>
            <a:ext cx="7697492" cy="2017703"/>
          </a:xfrm>
          <a:prstGeom prst="rect">
            <a:avLst/>
          </a:prstGeom>
        </p:spPr>
      </p:pic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1C3D709C-CF89-BDDE-E974-08C3CABB2716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>
            <a:off x="6634065" y="3493012"/>
            <a:ext cx="541176" cy="358176"/>
          </a:xfrm>
          <a:prstGeom prst="curvedConnector3">
            <a:avLst>
              <a:gd name="adj1" fmla="val 42232"/>
            </a:avLst>
          </a:prstGeom>
          <a:ln w="28575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448DFFAC-4655-E142-93D6-05D2EF121219}"/>
              </a:ext>
            </a:extLst>
          </p:cNvPr>
          <p:cNvSpPr txBox="1"/>
          <p:nvPr/>
        </p:nvSpPr>
        <p:spPr>
          <a:xfrm>
            <a:off x="7175241" y="3681911"/>
            <a:ext cx="138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solidFill>
                  <a:srgbClr val="FF0000"/>
                </a:solidFill>
              </a:rPr>
              <a:t>Ramka UART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GA Sensor">
  <a:themeElements>
    <a:clrScheme name="FPGA Sensor">
      <a:dk1>
        <a:srgbClr val="1B2A41"/>
      </a:dk1>
      <a:lt1>
        <a:srgbClr val="FFFFFF"/>
      </a:lt1>
      <a:dk2>
        <a:srgbClr val="0F766E"/>
      </a:dk2>
      <a:lt2>
        <a:srgbClr val="E6F4F1"/>
      </a:lt2>
      <a:accent1>
        <a:srgbClr val="0F766E"/>
      </a:accent1>
      <a:accent2>
        <a:srgbClr val="475569"/>
      </a:accent2>
      <a:accent3>
        <a:srgbClr val="F59E0B"/>
      </a:accent3>
      <a:accent4>
        <a:srgbClr val="14B8A6"/>
      </a:accent4>
      <a:accent5>
        <a:srgbClr val="64748B"/>
      </a:accent5>
      <a:accent6>
        <a:srgbClr val="CBD5E1"/>
      </a:accent6>
      <a:hlink>
        <a:srgbClr val="0F766E"/>
      </a:hlink>
      <a:folHlink>
        <a:srgbClr val="475569"/>
      </a:folHlink>
    </a:clrScheme>
    <a:fontScheme name="FPGA Sens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393</Words>
  <Application>Microsoft Office PowerPoint</Application>
  <PresentationFormat>Panoramiczny</PresentationFormat>
  <Paragraphs>59</Paragraphs>
  <Slides>3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6" baseType="lpstr">
      <vt:lpstr>Arial</vt:lpstr>
      <vt:lpstr>Calibri</vt:lpstr>
      <vt:lpstr>FPGA Sensor</vt:lpstr>
      <vt:lpstr>Opcje: dlaczego FPGA?</vt:lpstr>
      <vt:lpstr>Jak to działa?</vt:lpstr>
      <vt:lpstr>Wyniki symulacji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Czujnik wiroprądowy + FPGA + Raspberry Pi</dc:title>
  <dc:subject>PptxGenJS Presentation</dc:subject>
  <dc:creator>PptxGenJS</dc:creator>
  <cp:lastModifiedBy>Karol Ryszard Baran</cp:lastModifiedBy>
  <cp:revision>4</cp:revision>
  <dcterms:created xsi:type="dcterms:W3CDTF">2026-10-19T11:19:54Z</dcterms:created>
  <dcterms:modified xsi:type="dcterms:W3CDTF">2026-10-20T11:11:10Z</dcterms:modified>
</cp:coreProperties>
</file>